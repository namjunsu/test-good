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채널A AI 문서 검색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RAG 기반 지능형 문서 검색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발표일: 2024.11.24</a:t>
            </a:r>
          </a:p>
          <a:p>
            <a:r>
              <a:t>발표자: [이름]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시스템 개요 - 무엇을, 왜 만들었나?</a:t>
            </a:r>
          </a:p>
          <a:p>
            <a:pPr/>
            <a:r>
              <a:t>2. 주요 기능 - 어떤 일을 하나?</a:t>
            </a:r>
          </a:p>
          <a:p>
            <a:pPr/>
            <a:r>
              <a:t>3. 기술 아키텍처 - 어떻게 작동하나?</a:t>
            </a:r>
          </a:p>
          <a:p>
            <a:pPr/>
            <a:r>
              <a:t>4. 검색 메커니즘 - 어떻게 찾나?</a:t>
            </a:r>
          </a:p>
          <a:p>
            <a:pPr/>
            <a:r>
              <a:t>5. 실제 사용 예시 - 어떻게 쓰나?</a:t>
            </a:r>
          </a:p>
          <a:p>
            <a:pPr/>
            <a:r>
              <a:t>6. 운영 현황 - 지금 어떤 상태인가?</a:t>
            </a:r>
          </a:p>
          <a:p>
            <a:pPr/>
            <a:r>
              <a:t>7. 기술적 특징 - 무엇이 특별한가?</a:t>
            </a:r>
          </a:p>
          <a:p>
            <a:pPr/>
            <a:r>
              <a:t>8. 향후 계획 - 앞으로 어떻게 할 것인가?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문제 상황</a:t>
            </a:r>
          </a:p>
          <a:p>
            <a:pPr lvl="1"/>
            <a:r>
              <a:t>"작년에 작성한 중계차 장비 구매 문서, 어디 있더라...?"</a:t>
            </a:r>
          </a:p>
          <a:p>
            <a:pPr lvl="1"/>
            <a:r>
              <a:t>"폴더 10개를 뒤져서 찾은 파일이 잘못된 버전..."</a:t>
            </a:r>
          </a:p>
          <a:p/>
          <a:p>
            <a:pPr>
              <a:defRPr b="1" sz="2000"/>
            </a:pPr>
            <a:r>
              <a:t>해결 방법: AI 문서 검색 시스템</a:t>
            </a:r>
          </a:p>
          <a:p>
            <a:pPr lvl="1"/>
            <a:r>
              <a:t>📚 475개 문서 (2014~2025, 12년치)</a:t>
            </a:r>
          </a:p>
          <a:p>
            <a:pPr lvl="1"/>
            <a:r>
              <a:t>⚡ 초고속 검색 (BM25 + FTS5)</a:t>
            </a:r>
          </a:p>
          <a:p>
            <a:pPr lvl="1"/>
            <a:r>
              <a:t>🤖 AI가 내용까지 요약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1️⃣ SEARCH 모드 - 문서 찾기</a:t>
            </a:r>
          </a:p>
          <a:p>
            <a:pPr lvl="1"/>
            <a:r>
              <a:t>사용자: "중계차 카메라 문서 찾아줘"</a:t>
            </a:r>
          </a:p>
          <a:p>
            <a:pPr lvl="1"/>
            <a:r>
              <a:t>→ 빠르게 관련 문서 3~5개 제시</a:t>
            </a:r>
          </a:p>
          <a:p>
            <a:pPr lvl="2"/>
            <a:r>
              <a:t>(기안자, 날짜, 금액 정보 포함)</a:t>
            </a:r>
          </a:p>
          <a:p/>
          <a:p>
            <a:pPr>
              <a:defRPr b="1" sz="1800"/>
            </a:pPr>
            <a:r>
              <a:t>2️⃣ DOCUMENT 모드 - 문서 요약</a:t>
            </a:r>
          </a:p>
          <a:p>
            <a:pPr lvl="1"/>
            <a:r>
              <a:t>사용자: "이 문서 요약해줘"</a:t>
            </a:r>
          </a:p>
          <a:p>
            <a:pPr lvl="1"/>
            <a:r>
              <a:t>→ AI가 2~3초 만에 핵심 내용 요약</a:t>
            </a:r>
          </a:p>
          <a:p>
            <a:pPr lvl="2"/>
            <a:r>
              <a:t>(제목, 날짜, 금액, 주요 내용)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3️⃣ QA 모드 - 질문/답변</a:t>
            </a:r>
          </a:p>
          <a:p>
            <a:pPr lvl="1"/>
            <a:r>
              <a:t>사용자: "렌즈 오버홀 비용은 얼마였어?"</a:t>
            </a:r>
          </a:p>
          <a:p>
            <a:pPr lvl="1"/>
            <a:r>
              <a:t>→ AI가 관련 문서 찾아서 답변 생성</a:t>
            </a:r>
          </a:p>
          <a:p>
            <a:pPr lvl="2"/>
            <a:r>
              <a:t>(3~5초, 자연어 답변)</a:t>
            </a:r>
          </a:p>
          <a:p/>
          <a:p>
            <a:pPr>
              <a:defRPr b="1" sz="1800"/>
            </a:pPr>
            <a:r>
              <a:t>4️⃣ COST 모드 - 비용 조회</a:t>
            </a:r>
          </a:p>
          <a:p>
            <a:pPr lvl="1"/>
            <a:r>
              <a:t>사용자: "2024년 남준수 기안 문서 총액은?"</a:t>
            </a:r>
          </a:p>
          <a:p>
            <a:pPr lvl="1"/>
            <a:r>
              <a:t>→ SQL 직접 집계 (초고속)</a:t>
            </a:r>
          </a:p>
          <a:p>
            <a:pPr lvl="2"/>
            <a:r>
              <a:t>(초고속 비용 합계)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아키텍처 (초보자용)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시스템 = 디지털 도서관</a:t>
            </a:r>
          </a:p>
          <a:p/>
          <a:p>
            <a:pPr/>
            <a:r>
              <a:t>📚 PDF 파일 = 책</a:t>
            </a:r>
          </a:p>
          <a:p>
            <a:pPr/>
            <a:r>
              <a:t>📇 metadata.db = 도서 카드 목록</a:t>
            </a:r>
          </a:p>
          <a:p>
            <a:pPr/>
            <a:r>
              <a:t>📑 BM25 인덱스 = 책 뒤의 색인(index)</a:t>
            </a:r>
          </a:p>
          <a:p>
            <a:pPr/>
            <a:r>
              <a:t>🤖 AI(LLM) = 사서 (내용 요약해주는)</a:t>
            </a:r>
          </a:p>
          <a:p>
            <a:pPr/>
            <a:r>
              <a:t>🔍 검색 엔진 = 도서 검색 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아키텍처 (전문가용)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Dual-Server Architecture</a:t>
            </a:r>
          </a:p>
          <a:p/>
          <a:p>
            <a:pPr/>
            <a:r>
              <a:t>Streamlit (UI 서버) - Port 8501</a:t>
            </a:r>
          </a:p>
          <a:p>
            <a:pPr/>
            <a:r>
              <a:t>FastAPI (API 서버) - Port 7860</a:t>
            </a:r>
          </a:p>
          <a:p/>
          <a:p>
            <a:pPr/>
            <a:r>
              <a:t>RAG Pipeline (통합 파사드)</a:t>
            </a:r>
          </a:p>
          <a:p>
            <a:pPr lvl="1"/>
            <a:r>
              <a:t>→ Query Router (쿼리 분류)</a:t>
            </a:r>
          </a:p>
          <a:p>
            <a:pPr lvl="1"/>
            <a:r>
              <a:t>→ Hybrid Search (BM25 + FTS5)</a:t>
            </a:r>
          </a:p>
          <a:p>
            <a:pPr lvl="1"/>
            <a:r>
              <a:t>→ LLM (Qwen 2.5, llama.cpp)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검색 메커니즘: 3단계 하이브리드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Stage 1: ExactMatch (정확한 파일명)</a:t>
            </a:r>
          </a:p>
          <a:p>
            <a:pPr lvl="1"/>
            <a:r>
              <a:t>→ 파일명에서 직접 매칭</a:t>
            </a:r>
          </a:p>
          <a:p/>
          <a:p>
            <a:pPr>
              <a:defRPr b="1"/>
            </a:pPr>
            <a:r>
              <a:t>Stage 2: FTS5 (전문검색)</a:t>
            </a:r>
          </a:p>
          <a:p>
            <a:pPr lvl="1"/>
            <a:r>
              <a:t>→ SQLite Full-Text Search</a:t>
            </a:r>
          </a:p>
          <a:p/>
          <a:p>
            <a:pPr>
              <a:defRPr b="1"/>
            </a:pPr>
            <a:r>
              <a:t>Stage 3: BM25 (키워드 랭킹)</a:t>
            </a:r>
          </a:p>
          <a:p>
            <a:pPr lvl="1"/>
            <a:r>
              <a:t>→ TF-IDF 기반 순위 알고리즘</a:t>
            </a:r>
          </a:p>
          <a:p>
            <a:pPr lvl="1"/>
            <a:r>
              <a:t>→ 가장 관련성 높은 문서 반환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실제 사용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시나리오 1: 급하게 문서 찾기</a:t>
            </a:r>
          </a:p>
          <a:p>
            <a:pPr lvl="1"/>
            <a:r>
              <a:t>질문: "중계차 카메라 렌즈 관련 문서"</a:t>
            </a:r>
          </a:p>
          <a:p>
            <a:pPr lvl="1"/>
            <a:r>
              <a:t>결과: 3개 문서 즉시 발견</a:t>
            </a:r>
          </a:p>
          <a:p/>
          <a:p>
            <a:pPr>
              <a:defRPr b="1" sz="1800"/>
            </a:pPr>
            <a:r>
              <a:t>시나리오 2: 비용 확인</a:t>
            </a:r>
          </a:p>
          <a:p>
            <a:pPr lvl="1"/>
            <a:r>
              <a:t>질문: "2024년 장비 구매 총액?"</a:t>
            </a:r>
          </a:p>
          <a:p>
            <a:pPr lvl="1"/>
            <a:r>
              <a:t>결과: 즉시 금액 합계 계산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운영 현황 (2024.11.24 기준)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📊 시스템 통계</a:t>
            </a:r>
          </a:p>
          <a:p/>
          <a:p>
            <a:pPr/>
            <a:r>
              <a:t>문서 수: 475개 PDF</a:t>
            </a:r>
          </a:p>
          <a:p>
            <a:pPr/>
            <a:r>
              <a:t>기간: 2014 ~ 2025 (12년)</a:t>
            </a:r>
          </a:p>
          <a:p>
            <a:pPr/>
            <a:r>
              <a:t>텍스트 추출: 87% (나머지는 OCR 처리 가능)</a:t>
            </a:r>
          </a:p>
          <a:p>
            <a:pPr/>
            <a:r>
              <a:t>자동 Fallback OCR 지원</a:t>
            </a:r>
          </a:p>
          <a:p>
            <a:pPr/>
            <a:r>
              <a:t>Dual-Server 아키텍처 (현재 실행 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기술적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한국어 특화</a:t>
            </a:r>
          </a:p>
          <a:p>
            <a:pPr lvl="1"/>
            <a:r>
              <a:t>형태소 분석, 동의어 처리</a:t>
            </a:r>
          </a:p>
          <a:p/>
          <a:p>
            <a:pPr>
              <a:defRPr b="1"/>
            </a:pPr>
            <a:r>
              <a:t>2. OCR Fallback 처리</a:t>
            </a:r>
          </a:p>
          <a:p>
            <a:pPr lvl="1"/>
            <a:r>
              <a:t>텍스트 부족 시 자동 OCR 실행</a:t>
            </a:r>
          </a:p>
          <a:p/>
          <a:p>
            <a:pPr>
              <a:defRPr b="1"/>
            </a:pPr>
            <a:r>
              <a:t>3. 3단계 캐싱</a:t>
            </a:r>
          </a:p>
          <a:p>
            <a:pPr lvl="1"/>
            <a:r>
              <a:t>메모리 → 디스크 → DB</a:t>
            </a:r>
          </a:p>
          <a:p/>
          <a:p>
            <a:pPr>
              <a:defRPr b="1"/>
            </a:pPr>
            <a:r>
              <a:t>4. 로컬 실행</a:t>
            </a:r>
          </a:p>
          <a:p>
            <a:pPr lvl="1"/>
            <a:r>
              <a:t>외부 유출 없음 (데이터 보안)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단기 (1~3개월)</a:t>
            </a:r>
          </a:p>
          <a:p>
            <a:pPr lvl="1"/>
            <a:r>
              <a:t>문서 자동 업로드 시스템</a:t>
            </a:r>
          </a:p>
          <a:p>
            <a:pPr lvl="1"/>
            <a:r>
              <a:t>사용자 피드백 수집</a:t>
            </a:r>
          </a:p>
          <a:p/>
          <a:p>
            <a:pPr>
              <a:defRPr b="1" sz="1800"/>
            </a:pPr>
            <a:r>
              <a:t>중기 (3~6개월)</a:t>
            </a:r>
          </a:p>
          <a:p>
            <a:pPr lvl="1"/>
            <a:r>
              <a:t>문서 10,000개로 확장</a:t>
            </a:r>
          </a:p>
          <a:p>
            <a:pPr lvl="1"/>
            <a:r>
              <a:t>다른 부서 도입</a:t>
            </a:r>
          </a:p>
          <a:p/>
          <a:p>
            <a:pPr>
              <a:defRPr b="1" sz="1800"/>
            </a:pPr>
            <a:r>
              <a:t>장기 (6개월 이상)</a:t>
            </a:r>
          </a:p>
          <a:p>
            <a:pPr lvl="1"/>
            <a:r>
              <a:t>회사 전체 통합 검색 시스템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Q &amp; A</a:t>
            </a:r>
          </a:p>
          <a:p/>
          <a:p>
            <a:r>
              <a:t>질문 있으시면 말씀해주세요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